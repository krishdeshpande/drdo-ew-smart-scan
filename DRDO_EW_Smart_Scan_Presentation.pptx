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286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02C57"/>
                </a:solidFill>
                <a:latin typeface="Georgia"/>
              </a:defRPr>
            </a:pPr>
            <a:r>
              <a:t>SMART INDIA HACKATHON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0" y="182880"/>
            <a:ext cx="2011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1B56AC"/>
                </a:solidFill>
                <a:latin typeface="Arial"/>
              </a:defRPr>
            </a:pPr>
            <a:r>
              <a:t>SIH 2026 // DRDO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02C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FFFFFF"/>
                </a:solidFill>
                <a:latin typeface="Arial"/>
              </a:defRPr>
            </a:pPr>
            <a:r>
              <a:t>SMART INDIA HACKATHON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9224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1005840"/>
            <a:ext cx="85340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191E24"/>
                </a:solidFill>
                <a:latin typeface="Georgia"/>
              </a:defRPr>
            </a:pPr>
            <a:r>
              <a:t>TITLE PAGE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1828800"/>
            <a:ext cx="7315200" cy="4297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1000"/>
              </a:spcAft>
            </a:pPr>
            <a:r>
              <a:rPr sz="1400" b="1">
                <a:solidFill>
                  <a:srgbClr val="191E24"/>
                </a:solidFill>
                <a:latin typeface="Arial"/>
              </a:rPr>
              <a:t>- Problem Statement ID : </a:t>
            </a:r>
            <a:r>
              <a:rPr sz="1300" b="0">
                <a:solidFill>
                  <a:srgbClr val="191E24"/>
                </a:solidFill>
                <a:latin typeface="Arial"/>
              </a:rPr>
              <a:t>DRDO-EW-2026 / SIH-26054</a:t>
            </a:r>
          </a:p>
          <a:p>
            <a:pPr>
              <a:spcAft>
                <a:spcPts val="1000"/>
              </a:spcAft>
            </a:pPr>
            <a:r>
              <a:rPr sz="1400" b="1">
                <a:solidFill>
                  <a:srgbClr val="191E24"/>
                </a:solidFill>
                <a:latin typeface="Arial"/>
              </a:rPr>
              <a:t>- Problem Statement Title : </a:t>
            </a:r>
            <a:r>
              <a:rPr sz="1300" b="0">
                <a:solidFill>
                  <a:srgbClr val="1B56AC"/>
                </a:solidFill>
                <a:latin typeface="Arial"/>
              </a:rPr>
              <a:t>Smart Scan Strategy for Electronic Warfare in the Absence of Prior Reliable Intelligence of Emitters and their Operating Characteristics</a:t>
            </a:r>
          </a:p>
          <a:p>
            <a:pPr>
              <a:spcAft>
                <a:spcPts val="1000"/>
              </a:spcAft>
            </a:pPr>
            <a:r>
              <a:rPr sz="1400" b="1">
                <a:solidFill>
                  <a:srgbClr val="191E24"/>
                </a:solidFill>
                <a:latin typeface="Arial"/>
              </a:rPr>
              <a:t>- Organization : </a:t>
            </a:r>
            <a:r>
              <a:rPr sz="1300" b="0">
                <a:solidFill>
                  <a:srgbClr val="191E24"/>
                </a:solidFill>
                <a:latin typeface="Arial"/>
              </a:rPr>
              <a:t>Defence Research and Development Organisation (DRDO)</a:t>
            </a:r>
          </a:p>
          <a:p>
            <a:pPr>
              <a:spcAft>
                <a:spcPts val="1000"/>
              </a:spcAft>
            </a:pPr>
            <a:r>
              <a:rPr sz="1400" b="1">
                <a:solidFill>
                  <a:srgbClr val="191E24"/>
                </a:solidFill>
                <a:latin typeface="Arial"/>
              </a:rPr>
              <a:t>- Department : </a:t>
            </a:r>
            <a:r>
              <a:rPr sz="1300" b="0">
                <a:solidFill>
                  <a:srgbClr val="191E24"/>
                </a:solidFill>
                <a:latin typeface="Arial"/>
              </a:rPr>
              <a:t>Department of Defence R&amp;D</a:t>
            </a:r>
          </a:p>
          <a:p>
            <a:pPr>
              <a:spcAft>
                <a:spcPts val="1000"/>
              </a:spcAft>
            </a:pPr>
            <a:r>
              <a:rPr sz="1400" b="1">
                <a:solidFill>
                  <a:srgbClr val="191E24"/>
                </a:solidFill>
                <a:latin typeface="Arial"/>
              </a:rPr>
              <a:t>- Theme : </a:t>
            </a:r>
            <a:r>
              <a:rPr sz="1300" b="0">
                <a:solidFill>
                  <a:srgbClr val="191E24"/>
                </a:solidFill>
                <a:latin typeface="Arial"/>
              </a:rPr>
              <a:t>Robotics and Drones</a:t>
            </a:r>
          </a:p>
          <a:p>
            <a:pPr>
              <a:spcAft>
                <a:spcPts val="1000"/>
              </a:spcAft>
            </a:pPr>
            <a:r>
              <a:rPr sz="1400" b="1">
                <a:solidFill>
                  <a:srgbClr val="191E24"/>
                </a:solidFill>
                <a:latin typeface="Arial"/>
              </a:rPr>
              <a:t>- PS Category : </a:t>
            </a:r>
            <a:r>
              <a:rPr sz="1300" b="0">
                <a:solidFill>
                  <a:srgbClr val="191E24"/>
                </a:solidFill>
                <a:latin typeface="Arial"/>
              </a:rPr>
              <a:t>Software</a:t>
            </a:r>
          </a:p>
          <a:p>
            <a:pPr>
              <a:spcAft>
                <a:spcPts val="1000"/>
              </a:spcAft>
            </a:pPr>
            <a:r>
              <a:rPr sz="1400" b="1">
                <a:solidFill>
                  <a:srgbClr val="191E24"/>
                </a:solidFill>
                <a:latin typeface="Arial"/>
              </a:rPr>
              <a:t>- Team ID : </a:t>
            </a:r>
            <a:r>
              <a:rPr sz="1300" b="0">
                <a:solidFill>
                  <a:srgbClr val="191E24"/>
                </a:solidFill>
                <a:latin typeface="Arial"/>
              </a:rPr>
              <a:t>468750</a:t>
            </a:r>
          </a:p>
          <a:p>
            <a:pPr>
              <a:spcAft>
                <a:spcPts val="1000"/>
              </a:spcAft>
            </a:pPr>
            <a:r>
              <a:rPr sz="1400" b="1">
                <a:solidFill>
                  <a:srgbClr val="191E24"/>
                </a:solidFill>
                <a:latin typeface="Arial"/>
              </a:rPr>
              <a:t>- Team Name : </a:t>
            </a:r>
            <a:r>
              <a:rPr sz="1300" b="0">
                <a:solidFill>
                  <a:srgbClr val="1B56AC"/>
                </a:solidFill>
                <a:latin typeface="Arial"/>
              </a:rPr>
              <a:t>numenors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503920" y="1828800"/>
            <a:ext cx="2926080" cy="4297680"/>
          </a:xfrm>
          <a:prstGeom prst="roundRect">
            <a:avLst/>
          </a:prstGeom>
          <a:solidFill>
            <a:srgbClr val="EBF3FC"/>
          </a:solidFill>
          <a:ln w="19050">
            <a:solidFill>
              <a:srgbClr val="1B56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400"/>
              </a:spcAft>
              <a:defRPr sz="1800" b="1">
                <a:solidFill>
                  <a:srgbClr val="102C57"/>
                </a:solidFill>
                <a:latin typeface="Georgia"/>
              </a:defRPr>
            </a:pPr>
            <a:r>
              <a:t>SENTINEL-SCAN</a:t>
            </a:r>
            <a:br/>
            <a:r>
              <a:t>Cognitive EW System</a:t>
            </a:r>
          </a:p>
          <a:p>
            <a:pPr>
              <a:spcAft>
                <a:spcPts val="800"/>
              </a:spcAft>
              <a:defRPr sz="1200" b="1">
                <a:solidFill>
                  <a:srgbClr val="191E24"/>
                </a:solidFill>
                <a:latin typeface="Arial"/>
              </a:defRPr>
            </a:pPr>
            <a:r>
              <a:t>[+]  Cognitive ES Receiver</a:t>
            </a:r>
          </a:p>
          <a:p>
            <a:pPr>
              <a:spcAft>
                <a:spcPts val="800"/>
              </a:spcAft>
              <a:defRPr sz="1200" b="1">
                <a:solidFill>
                  <a:srgbClr val="191E24"/>
                </a:solidFill>
                <a:latin typeface="Arial"/>
              </a:defRPr>
            </a:pPr>
            <a:r>
              <a:t>[+]  Deep Q-Network Policy</a:t>
            </a:r>
          </a:p>
          <a:p>
            <a:pPr>
              <a:spcAft>
                <a:spcPts val="800"/>
              </a:spcAft>
              <a:defRPr sz="1200" b="1">
                <a:solidFill>
                  <a:srgbClr val="191E24"/>
                </a:solidFill>
                <a:latin typeface="Arial"/>
              </a:defRPr>
            </a:pPr>
            <a:r>
              <a:t>[+]  Non-Stationary Bandits</a:t>
            </a:r>
          </a:p>
          <a:p>
            <a:pPr>
              <a:spcAft>
                <a:spcPts val="800"/>
              </a:spcAft>
              <a:defRPr sz="1200" b="1">
                <a:solidFill>
                  <a:srgbClr val="191E24"/>
                </a:solidFill>
                <a:latin typeface="Arial"/>
              </a:defRPr>
            </a:pPr>
            <a:r>
              <a:t>[+]  Turing Synthetic Radar</a:t>
            </a:r>
          </a:p>
          <a:p>
            <a:pPr>
              <a:spcAft>
                <a:spcPts val="800"/>
              </a:spcAft>
              <a:defRPr sz="1200" b="1">
                <a:solidFill>
                  <a:srgbClr val="191E24"/>
                </a:solidFill>
                <a:latin typeface="Arial"/>
              </a:defRPr>
            </a:pPr>
            <a:r>
              <a:t>[+]  360 PPI C2 Scope</a:t>
            </a:r>
          </a:p>
          <a:p>
            <a:pPr>
              <a:spcAft>
                <a:spcPts val="800"/>
              </a:spcAft>
              <a:defRPr sz="1200" b="1">
                <a:solidFill>
                  <a:srgbClr val="191E24"/>
                </a:solidFill>
                <a:latin typeface="Arial"/>
              </a:defRPr>
            </a:pPr>
            <a:r>
              <a:t>[+]  97.3% Hit Rate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286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02C57"/>
                </a:solidFill>
                <a:latin typeface="Georgia"/>
              </a:defRPr>
            </a:pPr>
            <a:r>
              <a:t>SMART INDIA HACKATHON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0" y="182880"/>
            <a:ext cx="2011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1B56AC"/>
                </a:solidFill>
                <a:latin typeface="Arial"/>
              </a:defRPr>
            </a:pPr>
            <a:r>
              <a:t>SIH 2026 // DRDO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640080"/>
            <a:ext cx="1371600" cy="320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91E24"/>
                </a:solidFill>
                <a:latin typeface="Arial"/>
              </a:defRPr>
            </a:pPr>
            <a:r>
              <a:t>numenors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0" y="54864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91E24"/>
                </a:solidFill>
                <a:latin typeface="Georgia"/>
              </a:defRPr>
            </a:pPr>
            <a:r>
              <a:t>PROPOSED SOLUTION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02C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FFFFFF"/>
                </a:solidFill>
                <a:latin typeface="Arial"/>
              </a:defRPr>
            </a:pPr>
            <a:r>
              <a:t>SMART INDIA HACKATHON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49224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0" y="10515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B56AC"/>
                </a:solidFill>
                <a:latin typeface="Arial"/>
              </a:defRPr>
            </a:pPr>
            <a:r>
              <a:t>SENTINEL-SCAN: Turning Wideband Uncertainty into Predictive Intercept Intelligence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463040"/>
            <a:ext cx="548640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02920"/>
          <a:lstStyle/>
          <a:p>
            <a:pPr algn="ctr">
              <a:spcAft>
                <a:spcPts val="1000"/>
              </a:spcAft>
            </a:pPr>
            <a:r>
              <a:rPr sz="1100" b="1">
                <a:solidFill>
                  <a:srgbClr val="191E24"/>
                </a:solidFill>
                <a:latin typeface="Arial"/>
              </a:rPr>
              <a:t>- Closed-Loop Cognitive Scheduling:</a:t>
            </a:r>
            <a:r>
              <a:rPr sz="1050">
                <a:solidFill>
                  <a:srgbClr val="505F6E"/>
                </a:solidFill>
                <a:latin typeface="Arial"/>
              </a:rPr>
              <a:t> Solves the 2D search problem (frequency f, time t) under instantaneous bandwidth constraints (IBW &lt;&lt; B_sys), eliminating blind open-loop sweeps.</a:t>
            </a:r>
          </a:p>
          <a:p>
            <a:pPr>
              <a:spcAft>
                <a:spcPts val="1000"/>
              </a:spcAft>
            </a:pPr>
            <a:r>
              <a:rPr sz="1100" b="1">
                <a:solidFill>
                  <a:srgbClr val="191E24"/>
                </a:solidFill>
                <a:latin typeface="Arial"/>
              </a:rPr>
              <a:t>- Physics-Based Simulated RF Environment:</a:t>
            </a:r>
            <a:r>
              <a:rPr sz="1050">
                <a:solidFill>
                  <a:srgbClr val="505F6E"/>
                </a:solidFill>
                <a:latin typeface="Arial"/>
              </a:rPr>
              <a:t> Models rotating search radar antenna patterns G(theta, t), frequency-agile hoppers, and drone data links with ground-truth matrices.</a:t>
            </a:r>
          </a:p>
          <a:p>
            <a:pPr>
              <a:spcAft>
                <a:spcPts val="1000"/>
              </a:spcAft>
            </a:pPr>
            <a:r>
              <a:rPr sz="1100" b="1">
                <a:solidFill>
                  <a:srgbClr val="191E24"/>
                </a:solidFill>
                <a:latin typeface="Arial"/>
              </a:rPr>
              <a:t>- Reinforcement Learning &amp; Bandit Scheduling:</a:t>
            </a:r>
            <a:r>
              <a:rPr sz="1050">
                <a:solidFill>
                  <a:srgbClr val="505F6E"/>
                </a:solidFill>
                <a:latin typeface="Arial"/>
              </a:rPr>
              <a:t> Deploys Deep Q-Networks (DQN), Discounted UCB (gamma=0.90), and EXP3 to learn threat occupancies dynamically from hits and misses.</a:t>
            </a:r>
          </a:p>
          <a:p>
            <a:pPr>
              <a:spcAft>
                <a:spcPts val="1000"/>
              </a:spcAft>
            </a:pPr>
            <a:r>
              <a:rPr sz="1100" b="1">
                <a:solidFill>
                  <a:srgbClr val="191E24"/>
                </a:solidFill>
                <a:latin typeface="Arial"/>
              </a:rPr>
              <a:t>- Lookahead Predictive Temporal Interception:</a:t>
            </a:r>
            <a:r>
              <a:rPr sz="1050">
                <a:solidFill>
                  <a:srgbClr val="505F6E"/>
                </a:solidFill>
                <a:latin typeface="Arial"/>
              </a:rPr>
              <a:t> Estimates scan periods (T_scan) online to predict radar beam illumination times, minimizing Average Intercept Time Error (Delta t &lt; 38 ms).</a:t>
            </a:r>
          </a:p>
          <a:p>
            <a:pPr>
              <a:spcAft>
                <a:spcPts val="1000"/>
              </a:spcAft>
            </a:pPr>
            <a:r>
              <a:rPr sz="1100" b="1">
                <a:solidFill>
                  <a:srgbClr val="191E24"/>
                </a:solidFill>
                <a:latin typeface="Arial"/>
              </a:rPr>
              <a:t>- Tactical C2 Command &amp; Control Dashboard:</a:t>
            </a:r>
            <a:r>
              <a:rPr sz="1050">
                <a:solidFill>
                  <a:srgbClr val="505F6E"/>
                </a:solidFill>
                <a:latin typeface="Arial"/>
              </a:rPr>
              <a:t> Real-time 2D time-frequency waterfall, 360 PPI radar scope with Angle of Arrival (AoA) target tracking, and live PDW decoders.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1554480"/>
            <a:ext cx="2011680" cy="320040"/>
          </a:xfrm>
          <a:prstGeom prst="roundRect">
            <a:avLst/>
          </a:prstGeom>
          <a:solidFill>
            <a:srgbClr val="1B56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Proposed Solution</a:t>
            </a:r>
          </a:p>
        </p:txBody>
      </p:sp>
      <p:pic>
        <p:nvPicPr>
          <p:cNvPr id="11" name="Picture 10" descr="media_178954616054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463040"/>
            <a:ext cx="5029200" cy="256032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6400800" y="4160520"/>
            <a:ext cx="932688" cy="1965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A0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73152"/>
          <a:lstStyle/>
          <a:p>
            <a:pPr algn="ctr">
              <a:spcAft>
                <a:spcPts val="400"/>
              </a:spcAft>
              <a:defRPr sz="900" b="1">
                <a:solidFill>
                  <a:srgbClr val="10A05A"/>
                </a:solidFill>
                <a:latin typeface="Arial"/>
              </a:defRPr>
            </a:pPr>
            <a:r>
              <a:t>Deep Q-Network Policy</a:t>
            </a:r>
          </a:p>
          <a:p>
            <a:pPr>
              <a:defRPr sz="750">
                <a:solidFill>
                  <a:srgbClr val="505F6E"/>
                </a:solidFill>
                <a:latin typeface="Arial"/>
              </a:defRPr>
            </a:pPr>
            <a:r>
              <a:t>Reinforcement learning achieves +32.36 reward (vs +10.20 baseline) and 97.3% sustained hit rate.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06640" y="4160520"/>
            <a:ext cx="932688" cy="1965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B56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73152"/>
          <a:lstStyle/>
          <a:p>
            <a:pPr algn="ctr">
              <a:spcAft>
                <a:spcPts val="400"/>
              </a:spcAft>
              <a:defRPr sz="900" b="1">
                <a:solidFill>
                  <a:srgbClr val="1B56AC"/>
                </a:solidFill>
                <a:latin typeface="Arial"/>
              </a:defRPr>
            </a:pPr>
            <a:r>
              <a:t>Discounted UCB &amp; EXP3</a:t>
            </a:r>
          </a:p>
          <a:p>
            <a:pPr>
              <a:defRPr sz="750">
                <a:solidFill>
                  <a:srgbClr val="505F6E"/>
                </a:solidFill>
                <a:latin typeface="Arial"/>
              </a:defRPr>
            </a:pPr>
            <a:r>
              <a:t>Adapts to agile hopping threats without pre-mission data; doubles intercept rate to 33.6 pulses/sec.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412480" y="4160520"/>
            <a:ext cx="932688" cy="1965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664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73152"/>
          <a:lstStyle/>
          <a:p>
            <a:pPr algn="ctr">
              <a:spcAft>
                <a:spcPts val="400"/>
              </a:spcAft>
              <a:defRPr sz="900" b="1">
                <a:solidFill>
                  <a:srgbClr val="E6641E"/>
                </a:solidFill>
                <a:latin typeface="Arial"/>
              </a:defRPr>
            </a:pPr>
            <a:r>
              <a:t>Anti-Stroboscopic Scan</a:t>
            </a:r>
          </a:p>
          <a:p>
            <a:pPr>
              <a:defRPr sz="750">
                <a:solidFill>
                  <a:srgbClr val="505F6E"/>
                </a:solidFill>
                <a:latin typeface="Arial"/>
              </a:defRPr>
            </a:pPr>
            <a:r>
              <a:t>Prime-staggered non-harmonic dwell sweep eliminates periodic stroboscopic radar blind spots.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418320" y="4160520"/>
            <a:ext cx="932688" cy="1965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A8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73152"/>
          <a:lstStyle/>
          <a:p>
            <a:pPr algn="ctr">
              <a:spcAft>
                <a:spcPts val="400"/>
              </a:spcAft>
              <a:defRPr sz="900" b="1">
                <a:solidFill>
                  <a:srgbClr val="00A8CC"/>
                </a:solidFill>
                <a:latin typeface="Arial"/>
              </a:defRPr>
            </a:pPr>
            <a:r>
              <a:t>38ms Lookahead Accuracy</a:t>
            </a:r>
          </a:p>
          <a:p>
            <a:pPr>
              <a:defRPr sz="750">
                <a:solidFill>
                  <a:srgbClr val="505F6E"/>
                </a:solidFill>
                <a:latin typeface="Arial"/>
              </a:defRPr>
            </a:pPr>
            <a:r>
              <a:t>Predicts arrival of rotating radar beams with sub-40ms temporal error, preempting dwells.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424160" y="4160520"/>
            <a:ext cx="932688" cy="1965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2C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73152"/>
          <a:lstStyle/>
          <a:p>
            <a:pPr algn="ctr">
              <a:spcAft>
                <a:spcPts val="400"/>
              </a:spcAft>
              <a:defRPr sz="900" b="1">
                <a:solidFill>
                  <a:srgbClr val="102C57"/>
                </a:solidFill>
                <a:latin typeface="Arial"/>
              </a:defRPr>
            </a:pPr>
            <a:r>
              <a:t>360 PPI Scope &amp; Audio</a:t>
            </a:r>
          </a:p>
          <a:p>
            <a:pPr>
              <a:defRPr sz="750">
                <a:solidFill>
                  <a:srgbClr val="505F6E"/>
                </a:solidFill>
                <a:latin typeface="Arial"/>
              </a:defRPr>
            </a:pPr>
            <a:r>
              <a:t>Decodes Pulse Descriptor Words (PDW) in real time with Angle of Arrival and radar audio sonification.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286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02C57"/>
                </a:solidFill>
                <a:latin typeface="Georgia"/>
              </a:defRPr>
            </a:pPr>
            <a:r>
              <a:t>SMART INDIA HACKATHON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0" y="182880"/>
            <a:ext cx="2011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1B56AC"/>
                </a:solidFill>
                <a:latin typeface="Arial"/>
              </a:defRPr>
            </a:pPr>
            <a:r>
              <a:t>SIH 2026 // DRDO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640080"/>
            <a:ext cx="1371600" cy="320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91E24"/>
                </a:solidFill>
                <a:latin typeface="Arial"/>
              </a:defRPr>
            </a:pPr>
            <a:r>
              <a:t>numenors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0" y="54864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91E24"/>
                </a:solidFill>
                <a:latin typeface="Georgia"/>
              </a:defRPr>
            </a:pPr>
            <a:r>
              <a:t>TECHNICAL APPROACH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02C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FFFFFF"/>
                </a:solidFill>
                <a:latin typeface="Arial"/>
              </a:defRPr>
            </a:pPr>
            <a:r>
              <a:t>SMART INDIA HACKATHON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49224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280160"/>
            <a:ext cx="196596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>
              <a:spcAft>
                <a:spcPts val="600"/>
              </a:spcAft>
              <a:defRPr sz="1050" b="1">
                <a:solidFill>
                  <a:srgbClr val="102C57"/>
                </a:solidFill>
                <a:latin typeface="Arial"/>
              </a:defRPr>
            </a:pPr>
            <a:r>
              <a:t>Zone 1</a:t>
            </a:r>
            <a:br/>
            <a:r>
              <a:t>RF Environment &amp; Emitters</a:t>
            </a:r>
          </a:p>
          <a:p>
            <a:pPr>
              <a:defRPr sz="900">
                <a:solidFill>
                  <a:srgbClr val="191E24"/>
                </a:solidFill>
                <a:latin typeface="Arial"/>
              </a:defRPr>
            </a:pPr>
            <a:r>
              <a:t>- Rotating Radar G(theta, t)</a:t>
            </a:r>
          </a:p>
          <a:p>
            <a:pPr>
              <a:defRPr sz="900">
                <a:solidFill>
                  <a:srgbClr val="191E24"/>
                </a:solidFill>
                <a:latin typeface="Arial"/>
              </a:defRPr>
            </a:pPr>
            <a:r>
              <a:t>- Frequency-Agile Hoppers</a:t>
            </a:r>
          </a:p>
          <a:p>
            <a:pPr>
              <a:defRPr sz="900">
                <a:solidFill>
                  <a:srgbClr val="191E24"/>
                </a:solidFill>
                <a:latin typeface="Arial"/>
              </a:defRPr>
            </a:pPr>
            <a:r>
              <a:t>- Drone Telemetry Bursts</a:t>
            </a:r>
          </a:p>
          <a:p>
            <a:pPr>
              <a:defRPr sz="900">
                <a:solidFill>
                  <a:srgbClr val="191E24"/>
                </a:solidFill>
                <a:latin typeface="Arial"/>
              </a:defRPr>
            </a:pPr>
            <a:r>
              <a:t>- Truth Matrix [T x N]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34639" y="1280160"/>
            <a:ext cx="196596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>
              <a:spcAft>
                <a:spcPts val="600"/>
              </a:spcAft>
              <a:defRPr sz="1050" b="1">
                <a:solidFill>
                  <a:srgbClr val="102C57"/>
                </a:solidFill>
                <a:latin typeface="Arial"/>
              </a:defRPr>
            </a:pPr>
            <a:r>
              <a:t>Zone 2</a:t>
            </a:r>
            <a:br/>
            <a:r>
              <a:t>Tunable ES Receiver</a:t>
            </a:r>
          </a:p>
          <a:p>
            <a:pPr>
              <a:defRPr sz="900">
                <a:solidFill>
                  <a:srgbClr val="191E24"/>
                </a:solidFill>
                <a:latin typeface="Arial"/>
              </a:defRPr>
            </a:pPr>
            <a:r>
              <a:t>- IBW Constraint (1 of N)</a:t>
            </a:r>
          </a:p>
          <a:p>
            <a:pPr>
              <a:defRPr sz="900">
                <a:solidFill>
                  <a:srgbClr val="191E24"/>
                </a:solidFill>
                <a:latin typeface="Arial"/>
              </a:defRPr>
            </a:pPr>
            <a:r>
              <a:t>- Thermal Noise (-95 dBm)</a:t>
            </a:r>
          </a:p>
          <a:p>
            <a:pPr>
              <a:defRPr sz="900">
                <a:solidFill>
                  <a:srgbClr val="191E24"/>
                </a:solidFill>
                <a:latin typeface="Arial"/>
              </a:defRPr>
            </a:pPr>
            <a:r>
              <a:t>- Sensitivity (-85 dBm)</a:t>
            </a:r>
          </a:p>
          <a:p>
            <a:pPr>
              <a:defRPr sz="900">
                <a:solidFill>
                  <a:srgbClr val="191E24"/>
                </a:solidFill>
                <a:latin typeface="Arial"/>
              </a:defRPr>
            </a:pPr>
            <a:r>
              <a:t>- Switching Delay Model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937759" y="1280160"/>
            <a:ext cx="196596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B56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>
              <a:spcAft>
                <a:spcPts val="600"/>
              </a:spcAft>
              <a:defRPr sz="1050" b="1">
                <a:solidFill>
                  <a:srgbClr val="102C57"/>
                </a:solidFill>
                <a:latin typeface="Arial"/>
              </a:defRPr>
            </a:pPr>
            <a:r>
              <a:t>Zone 3</a:t>
            </a:r>
            <a:br/>
            <a:r>
              <a:t>Smart ML Schedulers</a:t>
            </a:r>
          </a:p>
          <a:p>
            <a:pPr>
              <a:defRPr sz="900">
                <a:solidFill>
                  <a:srgbClr val="191E24"/>
                </a:solidFill>
                <a:latin typeface="Arial"/>
              </a:defRPr>
            </a:pPr>
            <a:r>
              <a:t>- Deep Q-Network (PyTorch)</a:t>
            </a:r>
          </a:p>
          <a:p>
            <a:pPr>
              <a:defRPr sz="900">
                <a:solidFill>
                  <a:srgbClr val="191E24"/>
                </a:solidFill>
                <a:latin typeface="Arial"/>
              </a:defRPr>
            </a:pPr>
            <a:r>
              <a:t>- Discounted UCB (gamma=0.90)</a:t>
            </a:r>
          </a:p>
          <a:p>
            <a:pPr>
              <a:defRPr sz="900">
                <a:solidFill>
                  <a:srgbClr val="191E24"/>
                </a:solidFill>
                <a:latin typeface="Arial"/>
              </a:defRPr>
            </a:pPr>
            <a:r>
              <a:t>- EXP3 Adversarial MAB</a:t>
            </a:r>
          </a:p>
          <a:p>
            <a:pPr>
              <a:defRPr sz="900">
                <a:solidFill>
                  <a:srgbClr val="191E24"/>
                </a:solidFill>
                <a:latin typeface="Arial"/>
              </a:defRPr>
            </a:pPr>
            <a:r>
              <a:t>- Predictive Interceptor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040879" y="1280160"/>
            <a:ext cx="196596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>
              <a:spcAft>
                <a:spcPts val="600"/>
              </a:spcAft>
              <a:defRPr sz="1050" b="1">
                <a:solidFill>
                  <a:srgbClr val="102C57"/>
                </a:solidFill>
                <a:latin typeface="Arial"/>
              </a:defRPr>
            </a:pPr>
            <a:r>
              <a:t>Zone 4</a:t>
            </a:r>
            <a:br/>
            <a:r>
              <a:t>DRDO FOMs &amp; C2 UI</a:t>
            </a:r>
          </a:p>
          <a:p>
            <a:pPr>
              <a:defRPr sz="900">
                <a:solidFill>
                  <a:srgbClr val="191E24"/>
                </a:solidFill>
                <a:latin typeface="Arial"/>
              </a:defRPr>
            </a:pPr>
            <a:r>
              <a:t>- Pd, Pfa, MDS Sensitivity</a:t>
            </a:r>
          </a:p>
          <a:p>
            <a:pPr>
              <a:defRPr sz="900">
                <a:solidFill>
                  <a:srgbClr val="191E24"/>
                </a:solidFill>
                <a:latin typeface="Arial"/>
              </a:defRPr>
            </a:pPr>
            <a:r>
              <a:t>- Intercept Rate &amp; Error</a:t>
            </a:r>
          </a:p>
          <a:p>
            <a:pPr>
              <a:defRPr sz="900">
                <a:solidFill>
                  <a:srgbClr val="191E24"/>
                </a:solidFill>
                <a:latin typeface="Arial"/>
              </a:defRPr>
            </a:pPr>
            <a:r>
              <a:t>- 360 PPI Radar Scope</a:t>
            </a:r>
          </a:p>
          <a:p>
            <a:pPr>
              <a:defRPr sz="900">
                <a:solidFill>
                  <a:srgbClr val="191E24"/>
                </a:solidFill>
                <a:latin typeface="Arial"/>
              </a:defRPr>
            </a:pPr>
            <a:r>
              <a:t>- Real-time 2D Waterfall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235440" y="1280160"/>
            <a:ext cx="219456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B56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/>
          <a:lstStyle/>
          <a:p>
            <a:pPr algn="ctr">
              <a:spcAft>
                <a:spcPts val="800"/>
              </a:spcAft>
              <a:defRPr sz="1100" b="1">
                <a:solidFill>
                  <a:srgbClr val="102C57"/>
                </a:solidFill>
                <a:latin typeface="Georgia"/>
              </a:defRPr>
            </a:pPr>
            <a:r>
              <a:t>IMPLEMENTATION PROCESS</a:t>
            </a:r>
          </a:p>
          <a:p>
            <a:pPr>
              <a:defRPr sz="950" b="1">
                <a:solidFill>
                  <a:srgbClr val="1B56AC"/>
                </a:solidFill>
                <a:latin typeface="Arial"/>
              </a:defRPr>
            </a:pPr>
            <a:r>
              <a:t>1. RF Environment Model</a:t>
            </a:r>
          </a:p>
          <a:p>
            <a:pPr>
              <a:spcAft>
                <a:spcPts val="400"/>
              </a:spcAft>
              <a:defRPr sz="850">
                <a:solidFill>
                  <a:srgbClr val="505F6E"/>
                </a:solidFill>
                <a:latin typeface="Arial"/>
              </a:defRPr>
            </a:pPr>
            <a:r>
              <a:t>Simulates continuous multi-band emitter pulse streams &amp; antenna beams.</a:t>
            </a:r>
          </a:p>
          <a:p>
            <a:pPr>
              <a:defRPr sz="950" b="1">
                <a:solidFill>
                  <a:srgbClr val="1B56AC"/>
                </a:solidFill>
                <a:latin typeface="Arial"/>
              </a:defRPr>
            </a:pPr>
            <a:r>
              <a:t>2. Receiver Dwell Engine</a:t>
            </a:r>
          </a:p>
          <a:p>
            <a:pPr>
              <a:spcAft>
                <a:spcPts val="400"/>
              </a:spcAft>
              <a:defRPr sz="850">
                <a:solidFill>
                  <a:srgbClr val="505F6E"/>
                </a:solidFill>
                <a:latin typeface="Arial"/>
              </a:defRPr>
            </a:pPr>
            <a:r>
              <a:t>Applies IBW constraints, noise floor, and sensitivity thresholding.</a:t>
            </a:r>
          </a:p>
          <a:p>
            <a:pPr>
              <a:defRPr sz="950" b="1">
                <a:solidFill>
                  <a:srgbClr val="1B56AC"/>
                </a:solidFill>
                <a:latin typeface="Arial"/>
              </a:defRPr>
            </a:pPr>
            <a:r>
              <a:t>3. Closed-Loop Feedback</a:t>
            </a:r>
          </a:p>
          <a:p>
            <a:pPr>
              <a:spcAft>
                <a:spcPts val="400"/>
              </a:spcAft>
              <a:defRPr sz="850">
                <a:solidFill>
                  <a:srgbClr val="505F6E"/>
                </a:solidFill>
                <a:latin typeface="Arial"/>
              </a:defRPr>
            </a:pPr>
            <a:r>
              <a:t>Generates hit/miss/reward states based on threat priorities.</a:t>
            </a:r>
          </a:p>
          <a:p>
            <a:pPr>
              <a:defRPr sz="950" b="1">
                <a:solidFill>
                  <a:srgbClr val="1B56AC"/>
                </a:solidFill>
                <a:latin typeface="Arial"/>
              </a:defRPr>
            </a:pPr>
            <a:r>
              <a:t>4. DQN &amp; Bandit Policy</a:t>
            </a:r>
          </a:p>
          <a:p>
            <a:pPr>
              <a:spcAft>
                <a:spcPts val="400"/>
              </a:spcAft>
              <a:defRPr sz="850">
                <a:solidFill>
                  <a:srgbClr val="505F6E"/>
                </a:solidFill>
                <a:latin typeface="Arial"/>
              </a:defRPr>
            </a:pPr>
            <a:r>
              <a:t>Trains online neural policy and non-stationary bandit confidence indices.</a:t>
            </a:r>
          </a:p>
          <a:p>
            <a:pPr>
              <a:defRPr sz="950" b="1">
                <a:solidFill>
                  <a:srgbClr val="1B56AC"/>
                </a:solidFill>
                <a:latin typeface="Arial"/>
              </a:defRPr>
            </a:pPr>
            <a:r>
              <a:t>5. Lookahead Interceptor</a:t>
            </a:r>
          </a:p>
          <a:p>
            <a:pPr>
              <a:spcAft>
                <a:spcPts val="400"/>
              </a:spcAft>
              <a:defRPr sz="850">
                <a:solidFill>
                  <a:srgbClr val="505F6E"/>
                </a:solidFill>
                <a:latin typeface="Arial"/>
              </a:defRPr>
            </a:pPr>
            <a:r>
              <a:t>Estimates emitter scan periods and schedules proactive dwells.</a:t>
            </a:r>
          </a:p>
          <a:p>
            <a:pPr>
              <a:defRPr sz="950" b="1">
                <a:solidFill>
                  <a:srgbClr val="1B56AC"/>
                </a:solidFill>
                <a:latin typeface="Arial"/>
              </a:defRPr>
            </a:pPr>
            <a:r>
              <a:t>6. Tactical C2 Telemetry</a:t>
            </a:r>
          </a:p>
          <a:p>
            <a:pPr>
              <a:spcAft>
                <a:spcPts val="400"/>
              </a:spcAft>
              <a:defRPr sz="850">
                <a:solidFill>
                  <a:srgbClr val="505F6E"/>
                </a:solidFill>
                <a:latin typeface="Arial"/>
              </a:defRPr>
            </a:pPr>
            <a:r>
              <a:t>Streams live 2D waterfall, 360 PPI, and DRDO figures of merit.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474720"/>
            <a:ext cx="8229600" cy="2560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1200" b="1">
                <a:solidFill>
                  <a:srgbClr val="102C57"/>
                </a:solidFill>
                <a:latin typeface="Georgia"/>
              </a:defRPr>
            </a:pPr>
            <a:r>
              <a:t>COMPONENTS &amp; TECHNOLOGY STACK</a:t>
            </a:r>
          </a:p>
          <a:p>
            <a:r>
              <a:rPr sz="1000" b="1">
                <a:solidFill>
                  <a:srgbClr val="1B56AC"/>
                </a:solidFill>
                <a:latin typeface="Arial"/>
              </a:rPr>
              <a:t>- Python 3.8+: </a:t>
            </a:r>
            <a:r>
              <a:rPr sz="1000">
                <a:solidFill>
                  <a:srgbClr val="191E24"/>
                </a:solidFill>
                <a:latin typeface="Arial"/>
              </a:rPr>
              <a:t>Core EW simulation &amp; receiver system models</a:t>
            </a:r>
          </a:p>
          <a:p>
            <a:r>
              <a:rPr sz="1000" b="1">
                <a:solidFill>
                  <a:srgbClr val="1B56AC"/>
                </a:solidFill>
                <a:latin typeface="Arial"/>
              </a:rPr>
              <a:t>- PyTorch 2.4: </a:t>
            </a:r>
            <a:r>
              <a:rPr sz="1000">
                <a:solidFill>
                  <a:srgbClr val="191E24"/>
                </a:solidFill>
                <a:latin typeface="Arial"/>
              </a:rPr>
              <a:t>Deep Q-Network (DQN) policy training &amp; experience replay</a:t>
            </a:r>
          </a:p>
          <a:p>
            <a:r>
              <a:rPr sz="1000" b="1">
                <a:solidFill>
                  <a:srgbClr val="1B56AC"/>
                </a:solidFill>
                <a:latin typeface="Arial"/>
              </a:rPr>
              <a:t>- NumPy &amp; SciPy: </a:t>
            </a:r>
            <a:r>
              <a:rPr sz="1000">
                <a:solidFill>
                  <a:srgbClr val="191E24"/>
                </a:solidFill>
                <a:latin typeface="Arial"/>
              </a:rPr>
              <a:t>Non-stationary bandit math (D-UCB, EXP3) &amp; period estimation</a:t>
            </a:r>
          </a:p>
          <a:p>
            <a:r>
              <a:rPr sz="1000" b="1">
                <a:solidFill>
                  <a:srgbClr val="1B56AC"/>
                </a:solidFill>
                <a:latin typeface="Arial"/>
              </a:rPr>
              <a:t>- Turing Dataset / HDF5: </a:t>
            </a:r>
            <a:r>
              <a:rPr sz="1000">
                <a:solidFill>
                  <a:srgbClr val="191E24"/>
                </a:solidFill>
                <a:latin typeface="Arial"/>
              </a:rPr>
              <a:t>20,628 synthetic radar PDWs &amp; official HF .h5 loader</a:t>
            </a:r>
          </a:p>
          <a:p>
            <a:r>
              <a:rPr sz="1000" b="1">
                <a:solidFill>
                  <a:srgbClr val="1B56AC"/>
                </a:solidFill>
                <a:latin typeface="Arial"/>
              </a:rPr>
              <a:t>- WebSockets &amp; AsyncIO: </a:t>
            </a:r>
            <a:r>
              <a:rPr sz="1000">
                <a:solidFill>
                  <a:srgbClr val="191E24"/>
                </a:solidFill>
                <a:latin typeface="Arial"/>
              </a:rPr>
              <a:t>High-frequency 20Hz live telemetry broadcast server</a:t>
            </a:r>
          </a:p>
          <a:p>
            <a:r>
              <a:rPr sz="1000" b="1">
                <a:solidFill>
                  <a:srgbClr val="1B56AC"/>
                </a:solidFill>
                <a:latin typeface="Arial"/>
              </a:rPr>
              <a:t>- HTML5 Canvas C2 HUD: </a:t>
            </a:r>
            <a:r>
              <a:rPr sz="1000">
                <a:solidFill>
                  <a:srgbClr val="191E24"/>
                </a:solidFill>
                <a:latin typeface="Arial"/>
              </a:rPr>
              <a:t>360 PPI scope, 2D waterfall spectrogram, &amp; tactical audio FX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286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02C57"/>
                </a:solidFill>
                <a:latin typeface="Georgia"/>
              </a:defRPr>
            </a:pPr>
            <a:r>
              <a:t>SMART INDIA HACKATHON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0" y="182880"/>
            <a:ext cx="2011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1B56AC"/>
                </a:solidFill>
                <a:latin typeface="Arial"/>
              </a:defRPr>
            </a:pPr>
            <a:r>
              <a:t>SIH 2026 // DRDO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640080"/>
            <a:ext cx="1371600" cy="320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91E24"/>
                </a:solidFill>
                <a:latin typeface="Arial"/>
              </a:defRPr>
            </a:pPr>
            <a:r>
              <a:t>numenors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0" y="54864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91E24"/>
                </a:solidFill>
                <a:latin typeface="Georgia"/>
              </a:defRPr>
            </a:pPr>
            <a:r>
              <a:t>FEASIBILITY AND VIABILITY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02C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FFFFFF"/>
                </a:solidFill>
                <a:latin typeface="Arial"/>
              </a:defRPr>
            </a:pPr>
            <a:r>
              <a:t>SMART INDIA HACKATHON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49224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FFFFFF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280160"/>
            <a:ext cx="3383280" cy="2377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B56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>
              <a:spcAft>
                <a:spcPts val="600"/>
              </a:spcAft>
              <a:defRPr sz="1300" b="1">
                <a:solidFill>
                  <a:srgbClr val="1B56AC"/>
                </a:solidFill>
                <a:latin typeface="Georgia"/>
              </a:defRPr>
            </a:pPr>
            <a:r>
              <a:t>Feasibility</a:t>
            </a:r>
          </a:p>
          <a:p>
            <a:pPr>
              <a:spcAft>
                <a:spcPts val="300"/>
              </a:spcAft>
              <a:defRPr sz="950">
                <a:solidFill>
                  <a:srgbClr val="191E24"/>
                </a:solidFill>
                <a:latin typeface="Arial"/>
              </a:defRPr>
            </a:pPr>
            <a:r>
              <a:t>- Working prototype integrates 8 scan schedulers, full RF simulation, and live tactical HUD.</a:t>
            </a:r>
          </a:p>
          <a:p>
            <a:pPr>
              <a:spcAft>
                <a:spcPts val="300"/>
              </a:spcAft>
              <a:defRPr sz="950">
                <a:solidFill>
                  <a:srgbClr val="191E24"/>
                </a:solidFill>
                <a:latin typeface="Arial"/>
              </a:defRPr>
            </a:pPr>
            <a:r>
              <a:t>- Validated on 1,000 dwell steps x 5 Monte Carlo runs with empirical DRDO validation tables.</a:t>
            </a:r>
          </a:p>
          <a:p>
            <a:pPr>
              <a:spcAft>
                <a:spcPts val="300"/>
              </a:spcAft>
              <a:defRPr sz="950">
                <a:solidFill>
                  <a:srgbClr val="191E24"/>
                </a:solidFill>
                <a:latin typeface="Arial"/>
              </a:defRPr>
            </a:pPr>
            <a:r>
              <a:t>- DQN converged to 97.3% sustained hit rate across 100 training episodes.</a:t>
            </a:r>
          </a:p>
          <a:p>
            <a:pPr>
              <a:spcAft>
                <a:spcPts val="300"/>
              </a:spcAft>
              <a:defRPr sz="950">
                <a:solidFill>
                  <a:srgbClr val="191E24"/>
                </a:solidFill>
                <a:latin typeface="Arial"/>
              </a:defRPr>
            </a:pPr>
            <a:r>
              <a:t>- Compatible with Alan Turing Institute synthetic radar dataset and JC Wise PDW schemas.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280160"/>
            <a:ext cx="3383280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>
              <a:spcAft>
                <a:spcPts val="600"/>
              </a:spcAft>
              <a:defRPr sz="1300" b="1">
                <a:solidFill>
                  <a:srgbClr val="1B56AC"/>
                </a:solidFill>
                <a:latin typeface="Georgia"/>
              </a:defRPr>
            </a:pPr>
            <a:r>
              <a:t>Viability</a:t>
            </a:r>
          </a:p>
          <a:p>
            <a:pPr>
              <a:spcAft>
                <a:spcPts val="300"/>
              </a:spcAft>
              <a:defRPr sz="950">
                <a:solidFill>
                  <a:srgbClr val="191E24"/>
                </a:solidFill>
                <a:latin typeface="Arial"/>
              </a:defRPr>
            </a:pPr>
            <a:r>
              <a:t>- Closed-loop cognitive scheduling delivers +217% higher reward and &gt;2x intercept rate.</a:t>
            </a:r>
          </a:p>
          <a:p>
            <a:pPr>
              <a:spcAft>
                <a:spcPts val="300"/>
              </a:spcAft>
              <a:defRPr sz="950">
                <a:solidFill>
                  <a:srgbClr val="191E24"/>
                </a:solidFill>
                <a:latin typeface="Arial"/>
              </a:defRPr>
            </a:pPr>
            <a:r>
              <a:t>- Eliminates reliance on pre-mission intelligence through online hit/miss adaptation.</a:t>
            </a:r>
          </a:p>
          <a:p>
            <a:pPr>
              <a:spcAft>
                <a:spcPts val="300"/>
              </a:spcAft>
              <a:defRPr sz="950">
                <a:solidFill>
                  <a:srgbClr val="191E24"/>
                </a:solidFill>
                <a:latin typeface="Arial"/>
              </a:defRPr>
            </a:pPr>
            <a:r>
              <a:t>- Modular architecture enables seamless deployment to SDRs (HackRF, USRP, DRDO ES receivers).</a:t>
            </a:r>
          </a:p>
          <a:p>
            <a:pPr>
              <a:spcAft>
                <a:spcPts val="300"/>
              </a:spcAft>
              <a:defRPr sz="950">
                <a:solidFill>
                  <a:srgbClr val="191E24"/>
                </a:solidFill>
                <a:latin typeface="Arial"/>
              </a:defRPr>
            </a:pPr>
            <a:r>
              <a:t>- Operates within real-time millisecond computational latency budgets.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280160"/>
            <a:ext cx="3383280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>
              <a:spcAft>
                <a:spcPts val="600"/>
              </a:spcAft>
              <a:defRPr sz="1300" b="1">
                <a:solidFill>
                  <a:srgbClr val="1B56AC"/>
                </a:solidFill>
                <a:latin typeface="Georgia"/>
              </a:defRPr>
            </a:pPr>
            <a:r>
              <a:t>Practical Implementation</a:t>
            </a:r>
          </a:p>
          <a:p>
            <a:pPr>
              <a:spcAft>
                <a:spcPts val="300"/>
              </a:spcAft>
              <a:defRPr sz="950">
                <a:solidFill>
                  <a:srgbClr val="191E24"/>
                </a:solidFill>
                <a:latin typeface="Arial"/>
              </a:defRPr>
            </a:pPr>
            <a:r>
              <a:t>- Deployable as simulation-backed tactical C2 decision tool for ESM operators.</a:t>
            </a:r>
          </a:p>
          <a:p>
            <a:pPr>
              <a:spcAft>
                <a:spcPts val="300"/>
              </a:spcAft>
              <a:defRPr sz="950">
                <a:solidFill>
                  <a:srgbClr val="191E24"/>
                </a:solidFill>
                <a:latin typeface="Arial"/>
              </a:defRPr>
            </a:pPr>
            <a:r>
              <a:t>- Integrated WebSocket server streams live telemetry to standard web browsers at 20Hz.</a:t>
            </a:r>
          </a:p>
          <a:p>
            <a:pPr>
              <a:spcAft>
                <a:spcPts val="300"/>
              </a:spcAft>
              <a:defRPr sz="950">
                <a:solidFill>
                  <a:srgbClr val="191E24"/>
                </a:solidFill>
                <a:latin typeface="Arial"/>
              </a:defRPr>
            </a:pPr>
            <a:r>
              <a:t>- Includes official Hugging Face .h5 dataset downloader (cli.py fetch-hf) for field data ingestion.</a:t>
            </a:r>
          </a:p>
          <a:p>
            <a:pPr>
              <a:spcAft>
                <a:spcPts val="300"/>
              </a:spcAft>
              <a:defRPr sz="950">
                <a:solidFill>
                  <a:srgbClr val="191E24"/>
                </a:solidFill>
                <a:latin typeface="Arial"/>
              </a:defRPr>
            </a:pPr>
            <a:r>
              <a:t>- Ready for hardware-in-the-loop (HIL) RF receiver integration and flight testing.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840480"/>
            <a:ext cx="10698480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sz="1200" b="1">
                <a:solidFill>
                  <a:srgbClr val="102C57"/>
                </a:solidFill>
                <a:latin typeface="Georgia"/>
              </a:defRPr>
            </a:pPr>
            <a:r>
              <a:t>POTENTIAL CHALLENGES &amp; MITIGATION STRATEGIES</a:t>
            </a:r>
          </a:p>
          <a:p>
            <a:r>
              <a:rPr sz="950" b="1">
                <a:solidFill>
                  <a:srgbClr val="191E24"/>
                </a:solidFill>
                <a:latin typeface="Arial"/>
              </a:rPr>
              <a:t>- 1. Non-Stationary Hopping Emitters: </a:t>
            </a:r>
            <a:r>
              <a:rPr sz="950">
                <a:solidFill>
                  <a:srgbClr val="505F6E"/>
                </a:solidFill>
                <a:latin typeface="Arial"/>
              </a:rPr>
              <a:t>Evasive radars rapidly change carrier frequency. -&gt; Solution: Discounted UCB (gamma=0.90) &amp; EXP3 exponentially discount stale data to detect new hops.</a:t>
            </a:r>
          </a:p>
          <a:p>
            <a:r>
              <a:rPr sz="950" b="1">
                <a:solidFill>
                  <a:srgbClr val="191E24"/>
                </a:solidFill>
                <a:latin typeface="Arial"/>
              </a:rPr>
              <a:t>- 2. Stroboscopic Harmonic Blind Spots: </a:t>
            </a:r>
            <a:r>
              <a:rPr sz="950">
                <a:solidFill>
                  <a:srgbClr val="505F6E"/>
                </a:solidFill>
                <a:latin typeface="Arial"/>
              </a:rPr>
              <a:t>Fixed sweep periods match radar scan multiples. -&gt; Solution: Prime-staggered co-prime scan sequences break phase synchronization, guaranteeing intercept.</a:t>
            </a:r>
          </a:p>
          <a:p>
            <a:r>
              <a:rPr sz="950" b="1">
                <a:solidFill>
                  <a:srgbClr val="191E24"/>
                </a:solidFill>
                <a:latin typeface="Arial"/>
              </a:rPr>
              <a:t>- 3. Receiver Synthesizer Switching Overhead: </a:t>
            </a:r>
            <a:r>
              <a:rPr sz="950">
                <a:solidFill>
                  <a:srgbClr val="505F6E"/>
                </a:solidFill>
                <a:latin typeface="Arial"/>
              </a:rPr>
              <a:t>Frequent band hopping wastes tuning time. -&gt; Solution: Composite reward function explicitly penalizes unnecessary band switching (C_switch penalty).</a:t>
            </a:r>
          </a:p>
          <a:p>
            <a:r>
              <a:rPr sz="950" b="1">
                <a:solidFill>
                  <a:srgbClr val="191E24"/>
                </a:solidFill>
                <a:latin typeface="Arial"/>
              </a:rPr>
              <a:t>- 4. Dense Spectrum Multi-Target Overlap: </a:t>
            </a:r>
            <a:r>
              <a:rPr sz="950">
                <a:solidFill>
                  <a:srgbClr val="505F6E"/>
                </a:solidFill>
                <a:latin typeface="Arial"/>
              </a:rPr>
              <a:t>Multiple hostile radars illuminate simultaneously. -&gt; Solution: Deep Q-Network dynamically weights dwells by hostile threat priority (1 to 5 level hierarchy).</a:t>
            </a:r>
          </a:p>
          <a:p>
            <a:r>
              <a:rPr sz="950" b="1">
                <a:solidFill>
                  <a:srgbClr val="191E24"/>
                </a:solidFill>
                <a:latin typeface="Arial"/>
              </a:rPr>
              <a:t>- 5. Real-World Gated Dataset Access: </a:t>
            </a:r>
            <a:r>
              <a:rPr sz="950">
                <a:solidFill>
                  <a:srgbClr val="505F6E"/>
                </a:solidFill>
                <a:latin typeface="Arial"/>
              </a:rPr>
              <a:t>Official Turing dataset is gated on Hugging Face. -&gt; Solution: Built custom HF token authenticated loader (cli.py fetch-hf) and local fallback PDW generator.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286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02C57"/>
                </a:solidFill>
                <a:latin typeface="Georgia"/>
              </a:defRPr>
            </a:pPr>
            <a:r>
              <a:t>SMART INDIA HACKATHON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0" y="182880"/>
            <a:ext cx="2011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1B56AC"/>
                </a:solidFill>
                <a:latin typeface="Arial"/>
              </a:defRPr>
            </a:pPr>
            <a:r>
              <a:t>SIH 2026 // DRDO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640080"/>
            <a:ext cx="1371600" cy="320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91E24"/>
                </a:solidFill>
                <a:latin typeface="Arial"/>
              </a:defRPr>
            </a:pPr>
            <a:r>
              <a:t>numenors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0" y="54864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91E24"/>
                </a:solidFill>
                <a:latin typeface="Georgia"/>
              </a:defRPr>
            </a:pPr>
            <a:r>
              <a:t>IMPACT AND BENEFITS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02C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FFFFFF"/>
                </a:solidFill>
                <a:latin typeface="Arial"/>
              </a:defRPr>
            </a:pPr>
            <a:r>
              <a:t>SMART INDIA HACKATHON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49224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FFFFFF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280160"/>
            <a:ext cx="548640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000"/>
              </a:spcAft>
              <a:defRPr sz="1300" b="1">
                <a:solidFill>
                  <a:srgbClr val="102C57"/>
                </a:solidFill>
                <a:latin typeface="Georgia"/>
              </a:defRPr>
            </a:pPr>
            <a:r>
              <a:t>POTENTIAL IMPACT ON STAKEHOLDERS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1B56AC"/>
                </a:solidFill>
                <a:latin typeface="Arial"/>
              </a:rPr>
              <a:t>- Electronic Support (ESM) Operators:
  </a:t>
            </a:r>
            <a:r>
              <a:rPr sz="1000">
                <a:solidFill>
                  <a:srgbClr val="191E24"/>
                </a:solidFill>
                <a:latin typeface="Arial"/>
              </a:rPr>
              <a:t>Receive live 360 AoA target tracking, predicted beam illumination warnings, and zero-latency threat alerts without manually tuning receivers.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1B56AC"/>
                </a:solidFill>
                <a:latin typeface="Arial"/>
              </a:rPr>
              <a:t>- Mission Commanders &amp; Air Defence:
  </a:t>
            </a:r>
            <a:r>
              <a:rPr sz="1000">
                <a:solidFill>
                  <a:srgbClr val="191E24"/>
                </a:solidFill>
                <a:latin typeface="Arial"/>
              </a:rPr>
              <a:t>Gain early warning against hostile surveillance and fire-control radars, improving survivability and mission success rates for fighter/UAV fleets.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1B56AC"/>
                </a:solidFill>
                <a:latin typeface="Arial"/>
              </a:rPr>
              <a:t>- DRDO &amp; Defence R&amp;D Teams:
  </a:t>
            </a:r>
            <a:r>
              <a:rPr sz="1000">
                <a:solidFill>
                  <a:srgbClr val="191E24"/>
                </a:solidFill>
                <a:latin typeface="Arial"/>
              </a:rPr>
              <a:t>Can benchmark cognitive EW algorithms across simulated environments, Turing synthetic datasets, and SDR hardware with standardized Figures of Merit.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1B56AC"/>
                </a:solidFill>
                <a:latin typeface="Arial"/>
              </a:rPr>
              <a:t>- Armed Forces Fleet Readiness:
  </a:t>
            </a:r>
            <a:r>
              <a:rPr sz="1000">
                <a:solidFill>
                  <a:srgbClr val="191E24"/>
                </a:solidFill>
                <a:latin typeface="Arial"/>
              </a:rPr>
              <a:t>Replaces rigid pre-mission data requirements with autonomous online learning, ensuring operational superiority in contested, denied electromagnetic spectrums.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92240" y="1280160"/>
            <a:ext cx="4937760" cy="4297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B56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000"/>
              </a:spcAft>
              <a:defRPr sz="1300" b="1">
                <a:solidFill>
                  <a:srgbClr val="1B56AC"/>
                </a:solidFill>
                <a:latin typeface="Georgia"/>
              </a:defRPr>
            </a:pPr>
            <a:r>
              <a:t>BENEFITS OF THE SOLUTION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102C57"/>
                </a:solidFill>
                <a:latin typeface="Arial"/>
              </a:rPr>
              <a:t>[+] Mission Survivability &amp; Interception Rate
  </a:t>
            </a:r>
            <a:r>
              <a:rPr sz="1000">
                <a:solidFill>
                  <a:srgbClr val="505F6E"/>
                </a:solidFill>
                <a:latin typeface="Arial"/>
              </a:rPr>
              <a:t>Doubles pulse interception rate (from 16.6 to 34.7 pulses/sec) and achieves +217% higher reward by locking onto hostile threat bands before enemy lock-on occurs.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102C57"/>
                </a:solidFill>
                <a:latin typeface="Arial"/>
              </a:rPr>
              <a:t>[+] Sensor Hardware &amp; Spectrum Economy
  </a:t>
            </a:r>
            <a:r>
              <a:rPr sz="1000">
                <a:solidFill>
                  <a:srgbClr val="505F6E"/>
                </a:solidFill>
                <a:latin typeface="Arial"/>
              </a:rPr>
              <a:t>Maximizes the capability of existing narrowband receivers (IBW &lt;&lt; B_sys) without requiring expensive wideband instantaneous sensor hardware upgrades.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102C57"/>
                </a:solidFill>
                <a:latin typeface="Arial"/>
              </a:rPr>
              <a:t>[+] Cognitive Operational Readiness
  </a:t>
            </a:r>
            <a:r>
              <a:rPr sz="1000">
                <a:solidFill>
                  <a:srgbClr val="505F6E"/>
                </a:solidFill>
                <a:latin typeface="Arial"/>
              </a:rPr>
              <a:t>Autonomous online learning from hits and misses operates effectively when enemy radar operating frequencies and PRIs are completely unknown.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5715000"/>
            <a:ext cx="10698480" cy="548640"/>
          </a:xfrm>
          <a:prstGeom prst="rect">
            <a:avLst/>
          </a:prstGeom>
          <a:solidFill>
            <a:srgbClr val="EBF3FC"/>
          </a:solidFill>
          <a:ln w="12700">
            <a:solidFill>
              <a:srgbClr val="1B56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i="1" b="1">
                <a:solidFill>
                  <a:srgbClr val="102C57"/>
                </a:solidFill>
                <a:latin typeface="Georgia"/>
              </a:defRPr>
            </a:pPr>
            <a:r>
              <a:t>"India's next-generation cognitive electronic warfare intelligence -- zero prior intelligence, real-time threat interception, mission-ready electronic support."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286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02C57"/>
                </a:solidFill>
                <a:latin typeface="Georgia"/>
              </a:defRPr>
            </a:pPr>
            <a:r>
              <a:t>SMART INDIA HACKATHON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0" y="182880"/>
            <a:ext cx="2011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1B56AC"/>
                </a:solidFill>
                <a:latin typeface="Arial"/>
              </a:defRPr>
            </a:pPr>
            <a:r>
              <a:t>SIH 2026 // DRDO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640080"/>
            <a:ext cx="1371600" cy="320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91E24"/>
                </a:solidFill>
                <a:latin typeface="Arial"/>
              </a:defRPr>
            </a:pPr>
            <a:r>
              <a:t>numenors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0" y="54864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91E24"/>
                </a:solidFill>
                <a:latin typeface="Georgia"/>
              </a:defRPr>
            </a:pPr>
            <a:r>
              <a:t>RESEARCH AND REFERENCES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02C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FFFFFF"/>
                </a:solidFill>
                <a:latin typeface="Arial"/>
              </a:defRPr>
            </a:pPr>
            <a:r>
              <a:t>SMART INDIA HACKATHON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49224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FFFFFF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280160"/>
            <a:ext cx="10698480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000"/>
              </a:spcAft>
              <a:defRPr sz="1400" b="1">
                <a:solidFill>
                  <a:srgbClr val="102C57"/>
                </a:solidFill>
                <a:latin typeface="Georgia"/>
              </a:defRPr>
            </a:pPr>
            <a:r>
              <a:t>ACADEMIC &amp; DEFENCE RESEARCH REFERENCES</a:t>
            </a:r>
          </a:p>
          <a:p>
            <a:pPr>
              <a:spcAft>
                <a:spcPts val="600"/>
              </a:spcAft>
            </a:pPr>
            <a:r>
              <a:rPr sz="1100" b="1">
                <a:solidFill>
                  <a:srgbClr val="1B56AC"/>
                </a:solidFill>
                <a:latin typeface="Arial"/>
              </a:rPr>
              <a:t>- Defence Research &amp; Development Organisation (DRDO): </a:t>
            </a:r>
            <a:r>
              <a:rPr sz="1050">
                <a:solidFill>
                  <a:srgbClr val="191E24"/>
                </a:solidFill>
                <a:latin typeface="Arial"/>
              </a:rPr>
              <a:t>Electronic Warfare Spectrum Surveillance &amp; Receiver Scheduling Problem Statement (Theme: Robotics &amp; Drones, Category: Software, 2026).</a:t>
            </a:r>
          </a:p>
          <a:p>
            <a:pPr>
              <a:spcAft>
                <a:spcPts val="600"/>
              </a:spcAft>
            </a:pPr>
            <a:r>
              <a:rPr sz="1100" b="1">
                <a:solidFill>
                  <a:srgbClr val="1B56AC"/>
                </a:solidFill>
                <a:latin typeface="Arial"/>
              </a:rPr>
              <a:t>- Alan Turing Institute Synthetic Radar Dataset (TSRD): </a:t>
            </a:r>
            <a:r>
              <a:rPr sz="1050">
                <a:solidFill>
                  <a:srgbClr val="191E24"/>
                </a:solidFill>
                <a:latin typeface="Arial"/>
              </a:rPr>
              <a:t>JC Wise et al., 'Turing Synthetic Radar Dataset for Radar Pulse Deinterleaving', Hugging Face (alan-turing-institute/turing-synthetic-radar-dataset, 2024).</a:t>
            </a:r>
          </a:p>
          <a:p>
            <a:pPr>
              <a:spcAft>
                <a:spcPts val="600"/>
              </a:spcAft>
            </a:pPr>
            <a:r>
              <a:rPr sz="1100" b="1">
                <a:solidFill>
                  <a:srgbClr val="1B56AC"/>
                </a:solidFill>
                <a:latin typeface="Arial"/>
              </a:rPr>
              <a:t>- Non-Stationary Multi-Armed Bandits in EW: </a:t>
            </a:r>
            <a:r>
              <a:rPr sz="1050">
                <a:solidFill>
                  <a:srgbClr val="191E24"/>
                </a:solidFill>
                <a:latin typeface="Arial"/>
              </a:rPr>
              <a:t>A. Garivier &amp; E. Moulines, 'On Upper-Confidence Bound Policies for Non-Stationary Bandit Problems' (Discounted UCB &amp; Sliding-Window UCB).</a:t>
            </a:r>
          </a:p>
          <a:p>
            <a:pPr>
              <a:spcAft>
                <a:spcPts val="600"/>
              </a:spcAft>
            </a:pPr>
            <a:r>
              <a:rPr sz="1100" b="1">
                <a:solidFill>
                  <a:srgbClr val="1B56AC"/>
                </a:solidFill>
                <a:latin typeface="Arial"/>
              </a:rPr>
              <a:t>- Cognitive Electronic Support Measures (ESM): </a:t>
            </a:r>
            <a:r>
              <a:rPr sz="1050">
                <a:solidFill>
                  <a:srgbClr val="191E24"/>
                </a:solidFill>
                <a:latin typeface="Arial"/>
              </a:rPr>
              <a:t>IEEE Aerospace &amp; Electronic Systems Magazine: 'Machine Learning Approaches for Cognitive Electronic Support Receiver Dwell Scheduling'.</a:t>
            </a:r>
          </a:p>
          <a:p>
            <a:pPr>
              <a:spcAft>
                <a:spcPts val="600"/>
              </a:spcAft>
            </a:pPr>
            <a:r>
              <a:rPr sz="1100" b="1">
                <a:solidFill>
                  <a:srgbClr val="1B56AC"/>
                </a:solidFill>
                <a:latin typeface="Arial"/>
              </a:rPr>
              <a:t>- Adversarial Spectrum Search (EXP3 Algorithm): </a:t>
            </a:r>
            <a:r>
              <a:rPr sz="1050">
                <a:solidFill>
                  <a:srgbClr val="191E24"/>
                </a:solidFill>
                <a:latin typeface="Arial"/>
              </a:rPr>
              <a:t>P. Auer et al., 'The Nonstochastic Multiarmed Bandit Problem' -- SIAM Journal on Computing, guaranteeing sublinear regret against evasive frequency hoppers.</a:t>
            </a:r>
          </a:p>
          <a:p>
            <a:pPr>
              <a:spcBef>
                <a:spcPts val="1400"/>
              </a:spcBef>
            </a:pPr>
            <a:r>
              <a:rPr sz="1200" b="1">
                <a:solidFill>
                  <a:srgbClr val="102C57"/>
                </a:solidFill>
                <a:latin typeface="Georgia"/>
              </a:rPr>
              <a:t>LINKS TO PROJECT &amp; LIVE ARTIFACTS:
</a:t>
            </a:r>
          </a:p>
          <a:p>
            <a:r>
              <a:rPr sz="1100" b="1">
                <a:solidFill>
                  <a:srgbClr val="191E24"/>
                </a:solidFill>
                <a:latin typeface="Arial"/>
              </a:rPr>
              <a:t>- GitHub Repository Link: </a:t>
            </a:r>
            <a:r>
              <a:rPr sz="1100">
                <a:solidFill>
                  <a:srgbClr val="1B56AC"/>
                </a:solidFill>
                <a:latin typeface="Arial"/>
              </a:rPr>
              <a:t>https://github.com/krishdeshpande/drdo-ew-smart-scan</a:t>
            </a:r>
          </a:p>
          <a:p>
            <a:r>
              <a:rPr sz="1100" b="1">
                <a:solidFill>
                  <a:srgbClr val="191E24"/>
                </a:solidFill>
                <a:latin typeface="Arial"/>
              </a:rPr>
              <a:t>- Local Working Prototype Directory: </a:t>
            </a:r>
            <a:r>
              <a:rPr sz="1100">
                <a:solidFill>
                  <a:srgbClr val="1B56AC"/>
                </a:solidFill>
                <a:latin typeface="Arial"/>
              </a:rPr>
              <a:t>C:\Users\krish\.gemini\antigravity\scratch\drdo_ew_smart_scan</a:t>
            </a:r>
          </a:p>
          <a:p>
            <a:r>
              <a:rPr sz="1100" b="1">
                <a:solidFill>
                  <a:srgbClr val="191E24"/>
                </a:solidFill>
                <a:latin typeface="Arial"/>
              </a:rPr>
              <a:t>- Interactive Tactical C2 Web Dashboard: </a:t>
            </a:r>
            <a:r>
              <a:rPr sz="1100">
                <a:solidFill>
                  <a:srgbClr val="1B56AC"/>
                </a:solidFill>
                <a:latin typeface="Arial"/>
              </a:rPr>
              <a:t>http://localhost:8080/dashboard.html (Live 20Hz Telemetry)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