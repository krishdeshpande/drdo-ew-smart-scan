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9333" y="211666"/>
            <a:ext cx="8128000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B5394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3333" y="1100666"/>
            <a:ext cx="5080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t>TITLE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666" y="1778000"/>
            <a:ext cx="8297333" cy="42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Problem Statement ID – </a:t>
            </a:r>
            <a:r>
              <a:rPr sz="2100" b="0">
                <a:solidFill>
                  <a:srgbClr val="1E293B"/>
                </a:solidFill>
                <a:latin typeface="Segoe UI"/>
              </a:rPr>
              <a:t>26055</a:t>
            </a:r>
          </a:p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Problem Statement Title- </a:t>
            </a:r>
            <a:r>
              <a:rPr sz="2100" b="0">
                <a:solidFill>
                  <a:srgbClr val="1E293B"/>
                </a:solidFill>
                <a:latin typeface="Segoe UI"/>
              </a:rPr>
              <a:t>Smart Scan Strategy for Electronic Warfare</a:t>
            </a:r>
          </a:p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Theme- </a:t>
            </a:r>
            <a:r>
              <a:rPr sz="2100" b="0">
                <a:solidFill>
                  <a:srgbClr val="1E293B"/>
                </a:solidFill>
                <a:latin typeface="Segoe UI"/>
              </a:rPr>
              <a:t>Robotics and Drones</a:t>
            </a:r>
          </a:p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PS Category- </a:t>
            </a:r>
            <a:r>
              <a:rPr sz="2100" b="0">
                <a:solidFill>
                  <a:srgbClr val="1E293B"/>
                </a:solidFill>
                <a:latin typeface="Segoe UI"/>
              </a:rPr>
              <a:t>Software</a:t>
            </a:r>
          </a:p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Team ID- </a:t>
            </a:r>
            <a:r>
              <a:rPr sz="2100" b="0">
                <a:solidFill>
                  <a:srgbClr val="1E293B"/>
                </a:solidFill>
                <a:latin typeface="Segoe UI"/>
              </a:rPr>
              <a:t>468750</a:t>
            </a:r>
          </a:p>
          <a:p>
            <a:pPr>
              <a:spcAft>
                <a:spcPts val="2200"/>
              </a:spcAft>
            </a:pPr>
            <a:r>
              <a:rPr sz="2100" b="1">
                <a:solidFill>
                  <a:srgbClr val="0F172A"/>
                </a:solidFill>
                <a:latin typeface="Segoe UI"/>
              </a:rPr>
              <a:t>• Team Name (Registered on portal)- </a:t>
            </a:r>
            <a:r>
              <a:rPr sz="2100" b="0">
                <a:solidFill>
                  <a:srgbClr val="1E293B"/>
                </a:solidFill>
                <a:latin typeface="Segoe UI"/>
              </a:rPr>
              <a:t>numenors</a:t>
            </a:r>
          </a:p>
        </p:txBody>
      </p:sp>
      <p:pic>
        <p:nvPicPr>
          <p:cNvPr id="9" name="Picture 8" descr="sih_bul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481666"/>
            <a:ext cx="2514600" cy="406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270933" y="237066"/>
            <a:ext cx="1439333" cy="66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E3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100" b="1">
                <a:solidFill>
                  <a:srgbClr val="141414"/>
                </a:solidFill>
                <a:latin typeface="Calibri"/>
              </a:defRPr>
            </a:pPr>
            <a:r>
              <a:t>numenors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333" y="211666"/>
            <a:ext cx="7958666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Georgia"/>
              </a:defRPr>
            </a:pPr>
            <a:r>
              <a:t>SENTINEL-EW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2000" y="626533"/>
            <a:ext cx="7281333" cy="3217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i="0">
                <a:solidFill>
                  <a:srgbClr val="475569"/>
                </a:solidFill>
                <a:latin typeface="Georgia"/>
              </a:defRPr>
            </a:pPr>
            <a:r>
              <a:t>Turning Wideband Spectrum Uncertainty into Predictive Intercept Intelligence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3200" y="1066800"/>
            <a:ext cx="3556000" cy="372533"/>
          </a:xfrm>
          <a:prstGeom prst="roundRect">
            <a:avLst/>
          </a:prstGeom>
          <a:solidFill>
            <a:srgbClr val="005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Proposed 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200" y="1507066"/>
            <a:ext cx="6519333" cy="4656666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03200" bIns="203200"/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• Dynamic Wideband Sweeping:</a:t>
            </a:r>
            <a:r>
              <a:rPr sz="1400" b="0">
                <a:solidFill>
                  <a:srgbClr val="334155"/>
                </a:solidFill>
                <a:latin typeface="Segoe UI"/>
              </a:rPr>
              <a:t> Sweeps multi-GHz threat spectrums using narrow instantaneous bandwidth (IBW) receivers, replacing rigid open-loop schedules with closed-loop adaptive dwell allocation.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• Non-Stationary Multi-Armed Bandits:</a:t>
            </a:r>
            <a:r>
              <a:rPr sz="1400" b="0">
                <a:solidFill>
                  <a:srgbClr val="334155"/>
                </a:solidFill>
                <a:latin typeface="Segoe UI"/>
              </a:rPr>
              <a:t> Employs Discounted-UCB and EXP3 algorithms to dynamically learn emitter presence without requiring pre-mission intelligence databases.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• Deep Q-Network (DQN) Scheduling:</a:t>
            </a:r>
            <a:r>
              <a:rPr sz="1400" b="0">
                <a:solidFill>
                  <a:srgbClr val="334155"/>
                </a:solidFill>
                <a:latin typeface="Segoe UI"/>
              </a:rPr>
              <a:t> Reinforcement learning policy trained on 100,000+ radar pulse bursts, maximizing intercept probability (Pd) and achieving +32.36 cumulative reward.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• Predictive Intercept Engine:</a:t>
            </a:r>
            <a:r>
              <a:rPr sz="1400" b="0">
                <a:solidFill>
                  <a:srgbClr val="334155"/>
                </a:solidFill>
                <a:latin typeface="Segoe UI"/>
              </a:rPr>
              <a:t> Synchronizes receiver dwells with hostile rotating radar scan intervals, cutting lookahead intercept error down to 38.0 ms.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• Closed-Loop Mission Intelligence &amp; C2:</a:t>
            </a:r>
            <a:r>
              <a:rPr sz="1400" b="0">
                <a:solidFill>
                  <a:srgbClr val="334155"/>
                </a:solidFill>
                <a:latin typeface="Segoe UI"/>
              </a:rPr>
              <a:t> Streams real-time Pulse Descriptor Words (PDWs), threat angle-of-arrival, and Figures of Merit over WebSockets to a tactical 360° PPI radar scope.</a:t>
            </a:r>
          </a:p>
        </p:txBody>
      </p:sp>
      <p:pic>
        <p:nvPicPr>
          <p:cNvPr id="11" name="Picture 10" descr="s2_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600" y="1066800"/>
            <a:ext cx="5080000" cy="2963333"/>
          </a:xfrm>
          <a:prstGeom prst="rect">
            <a:avLst/>
          </a:prstGeom>
        </p:spPr>
      </p:pic>
      <p:pic>
        <p:nvPicPr>
          <p:cNvPr id="12" name="Picture 11" descr="s2_inno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33" y="4097866"/>
            <a:ext cx="5012266" cy="20658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270933" y="237066"/>
            <a:ext cx="1439333" cy="66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E3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100" b="1">
                <a:solidFill>
                  <a:srgbClr val="141414"/>
                </a:solidFill>
                <a:latin typeface="Calibri"/>
              </a:defRPr>
            </a:pPr>
            <a:r>
              <a:t>numenors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333" y="211666"/>
            <a:ext cx="7958666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Georgia"/>
              </a:defRPr>
            </a:pPr>
            <a:r>
              <a:t>TECHNICAL APPROACH</a:t>
            </a:r>
          </a:p>
        </p:txBody>
      </p:sp>
      <p:pic>
        <p:nvPicPr>
          <p:cNvPr id="8" name="Picture 7" descr="s3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982133"/>
            <a:ext cx="8043333" cy="4419600"/>
          </a:xfrm>
          <a:prstGeom prst="rect">
            <a:avLst/>
          </a:prstGeom>
        </p:spPr>
      </p:pic>
      <p:pic>
        <p:nvPicPr>
          <p:cNvPr id="9" name="Picture 8" descr="s3_tech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200" y="5435600"/>
            <a:ext cx="8043333" cy="829733"/>
          </a:xfrm>
          <a:prstGeom prst="rect">
            <a:avLst/>
          </a:prstGeom>
        </p:spPr>
      </p:pic>
      <p:pic>
        <p:nvPicPr>
          <p:cNvPr id="10" name="Picture 9" descr="s3_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0" y="982133"/>
            <a:ext cx="3598333" cy="528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Oval 5"/>
          <p:cNvSpPr/>
          <p:nvPr/>
        </p:nvSpPr>
        <p:spPr>
          <a:xfrm>
            <a:off x="270933" y="237066"/>
            <a:ext cx="1439333" cy="66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E3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100" b="1">
                <a:solidFill>
                  <a:srgbClr val="141414"/>
                </a:solidFill>
                <a:latin typeface="Calibri"/>
              </a:defRPr>
            </a:pPr>
            <a:r>
              <a:t>numenors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333" y="211666"/>
            <a:ext cx="7958666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Georgia"/>
              </a:defRPr>
            </a:pPr>
            <a:r>
              <a:t>FEASIBILITY AND VIABILITY</a:t>
            </a:r>
          </a:p>
        </p:txBody>
      </p:sp>
      <p:pic>
        <p:nvPicPr>
          <p:cNvPr id="8" name="Picture 7" descr="s4_fea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666" y="846666"/>
            <a:ext cx="8212666" cy="2370666"/>
          </a:xfrm>
          <a:prstGeom prst="rect">
            <a:avLst/>
          </a:prstGeom>
        </p:spPr>
      </p:pic>
      <p:pic>
        <p:nvPicPr>
          <p:cNvPr id="9" name="Picture 8" descr="s4_challen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333" y="3302000"/>
            <a:ext cx="9821333" cy="28786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270933" y="237066"/>
            <a:ext cx="1439333" cy="66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E3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100" b="1">
                <a:solidFill>
                  <a:srgbClr val="141414"/>
                </a:solidFill>
                <a:latin typeface="Calibri"/>
              </a:defRPr>
            </a:pPr>
            <a:r>
              <a:t>numenors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333" y="211666"/>
            <a:ext cx="7958666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Georgia"/>
              </a:defRPr>
            </a:pPr>
            <a:r>
              <a:t>IMPACT AND BENEFITS</a:t>
            </a:r>
          </a:p>
        </p:txBody>
      </p:sp>
      <p:pic>
        <p:nvPicPr>
          <p:cNvPr id="8" name="Picture 7" descr="s5_stakehol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973666"/>
            <a:ext cx="6392333" cy="4614333"/>
          </a:xfrm>
          <a:prstGeom prst="rect">
            <a:avLst/>
          </a:prstGeom>
        </p:spPr>
      </p:pic>
      <p:pic>
        <p:nvPicPr>
          <p:cNvPr id="9" name="Picture 8" descr="s5_benef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973666"/>
            <a:ext cx="4826000" cy="4614333"/>
          </a:xfrm>
          <a:prstGeom prst="rect">
            <a:avLst/>
          </a:prstGeom>
        </p:spPr>
      </p:pic>
      <p:pic>
        <p:nvPicPr>
          <p:cNvPr id="10" name="Picture 9" descr="s5_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706533"/>
            <a:ext cx="11430000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3" y="127000"/>
            <a:ext cx="2116666" cy="914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299200"/>
            <a:ext cx="12192000" cy="5588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0" y="6316133"/>
            <a:ext cx="711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316133"/>
            <a:ext cx="846666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7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270933" y="237066"/>
            <a:ext cx="1439333" cy="66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E3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100" b="1">
                <a:solidFill>
                  <a:srgbClr val="141414"/>
                </a:solidFill>
                <a:latin typeface="Calibri"/>
              </a:defRPr>
            </a:pPr>
            <a:r>
              <a:t>numenors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333" y="211666"/>
            <a:ext cx="7958666" cy="592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Georgia"/>
              </a:defRPr>
            </a:pPr>
            <a:r>
              <a:t>RESEARCH 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666" y="1016000"/>
            <a:ext cx="11006666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172A"/>
                </a:solidFill>
                <a:latin typeface="Georgia"/>
              </a:defRPr>
            </a:pPr>
            <a:r>
              <a:t>• Academic &amp; Defence Research Sources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• Defence Research &amp; Development Organisation (DRDO / DLRL) – Electronic Support Measures (ESM) receiver architecture, wideband search strategies, and Figures of Merit standards.</a:t>
            </a:r>
          </a:p>
          <a:p>
            <a:pPr>
              <a:spcAft>
                <a:spcPts val="1200"/>
              </a:spcAft>
              <a:defRPr sz="1300">
                <a:solidFill>
                  <a:srgbClr val="0284C7"/>
                </a:solidFill>
                <a:latin typeface="Segoe UI"/>
              </a:defRPr>
            </a:pPr>
            <a:r>
              <a:t>https://www.drdo.gov.in/drdo/labs-and-establishments/defence-electronics-research-laboratory-dlrl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• JC Wise (2024) – Alan Turing Institute Radar Emitter Dataset: High-fidelity synthetic radar pulse trains and agile emitter classification benchmarks.</a:t>
            </a:r>
          </a:p>
          <a:p>
            <a:pPr>
              <a:spcAft>
                <a:spcPts val="1200"/>
              </a:spcAft>
              <a:defRPr sz="1300">
                <a:solidFill>
                  <a:srgbClr val="0284C7"/>
                </a:solidFill>
                <a:latin typeface="Segoe UI"/>
              </a:defRPr>
            </a:pPr>
            <a:r>
              <a:t>https://huggingface.co/datasets/jcwise/radar-emitter-database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• P. Auer, N. Cesa-Bianchi, P. Fischer (2002) / A. Garivier &amp; E. Moulines (2011) – Non-Stationary Multi-Armed Bandits: The Discounted-UCB and EXP3 algorithms for dynamic environments.</a:t>
            </a:r>
          </a:p>
          <a:p>
            <a:pPr>
              <a:spcAft>
                <a:spcPts val="1200"/>
              </a:spcAft>
              <a:defRPr sz="1300">
                <a:solidFill>
                  <a:srgbClr val="0284C7"/>
                </a:solidFill>
                <a:latin typeface="Segoe UI"/>
              </a:defRPr>
            </a:pPr>
            <a:r>
              <a:t>https://arxiv.org/abs/0805.3415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• V. Mnih et al. (2015) – Nature: Human-level control through deep reinforcement learning (DQN application to cognitive sensor scheduling).</a:t>
            </a:r>
          </a:p>
          <a:p>
            <a:pPr>
              <a:spcAft>
                <a:spcPts val="1200"/>
              </a:spcAft>
              <a:defRPr sz="1300">
                <a:solidFill>
                  <a:srgbClr val="0284C7"/>
                </a:solidFill>
                <a:latin typeface="Segoe UI"/>
              </a:defRPr>
            </a:pPr>
            <a:r>
              <a:t>https://www.nature.com/articles/nature14236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2000" b="1">
                <a:solidFill>
                  <a:srgbClr val="0F172A"/>
                </a:solidFill>
                <a:latin typeface="Georgia"/>
              </a:defRPr>
            </a:pPr>
            <a:r>
              <a:t>LINKS TO PROJECT:</a:t>
            </a:r>
          </a:p>
          <a:p>
            <a:pPr>
              <a:spcAft>
                <a:spcPts val="400"/>
              </a:spcAft>
            </a:pPr>
            <a:r>
              <a:rPr b="1" sz="1500"/>
              <a:t>Repository link: </a:t>
            </a:r>
            <a:r>
              <a:rPr sz="1500">
                <a:solidFill>
                  <a:srgbClr val="0284C7"/>
                </a:solidFill>
              </a:rPr>
              <a:t>https://github.com/krishdeshpande/drdo-ew-smart-scan.git</a:t>
            </a:r>
          </a:p>
          <a:p>
            <a:r>
              <a:rPr b="1" sz="1500"/>
              <a:t>Live Tactical C2 Prototype: </a:t>
            </a:r>
            <a:r>
              <a:rPr sz="1500">
                <a:solidFill>
                  <a:srgbClr val="0284C7"/>
                </a:solidFill>
              </a:rPr>
              <a:t>http://localhost:8080/dashboard.html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